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7" r:id="rId4"/>
    <p:sldId id="274" r:id="rId5"/>
    <p:sldId id="270" r:id="rId6"/>
    <p:sldId id="269" r:id="rId7"/>
    <p:sldId id="259" r:id="rId8"/>
    <p:sldId id="273" r:id="rId9"/>
    <p:sldId id="271" r:id="rId10"/>
    <p:sldId id="275" r:id="rId11"/>
    <p:sldId id="276" r:id="rId12"/>
    <p:sldId id="268" r:id="rId13"/>
  </p:sldIdLst>
  <p:sldSz cx="18288000" cy="10287000"/>
  <p:notesSz cx="6858000" cy="9144000"/>
  <p:embeddedFontLst>
    <p:embeddedFont>
      <p:font typeface="Aharoni" panose="02010803020104030203" pitchFamily="2" charset="-79"/>
      <p:bold r:id="rId14"/>
    </p:embeddedFont>
    <p:embeddedFont>
      <p:font typeface="Aileron" panose="020B0604020202020204" charset="0"/>
      <p:regular r:id="rId15"/>
    </p:embeddedFont>
    <p:embeddedFont>
      <p:font typeface="Aileron Bold" panose="020B0604020202020204" charset="0"/>
      <p:regular r:id="rId16"/>
    </p:embeddedFont>
    <p:embeddedFont>
      <p:font typeface="IBM Plex Sans" panose="020B0503050203000203" pitchFamily="34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ACFDCED-D699-47F4-8BA3-173A595DE2C2}">
          <p14:sldIdLst>
            <p14:sldId id="256"/>
            <p14:sldId id="257"/>
            <p14:sldId id="277"/>
            <p14:sldId id="274"/>
            <p14:sldId id="270"/>
            <p14:sldId id="269"/>
            <p14:sldId id="259"/>
            <p14:sldId id="273"/>
            <p14:sldId id="271"/>
            <p14:sldId id="275"/>
            <p14:sldId id="276"/>
          </p14:sldIdLst>
        </p14:section>
        <p14:section name="Untitled Section" id="{0A8671D3-D1AF-4969-A1F3-25BE368E0DF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5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5266" y="1405644"/>
            <a:ext cx="10697766" cy="3737856"/>
            <a:chOff x="-351245" y="-2267129"/>
            <a:chExt cx="14263688" cy="4983808"/>
          </a:xfrm>
        </p:grpSpPr>
        <p:sp>
          <p:nvSpPr>
            <p:cNvPr id="3" name="TextBox 3"/>
            <p:cNvSpPr txBox="1"/>
            <p:nvPr/>
          </p:nvSpPr>
          <p:spPr>
            <a:xfrm>
              <a:off x="-50800" y="2093956"/>
              <a:ext cx="11465391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r>
                <a:rPr lang="en-US" sz="2799" dirty="0">
                  <a:solidFill>
                    <a:srgbClr val="1E3256"/>
                  </a:solidFill>
                  <a:latin typeface="IBM Plex Sans"/>
                </a:rPr>
                <a:t>Data Analysis project 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351245" y="-2267129"/>
              <a:ext cx="14263688" cy="37617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040"/>
                </a:lnSpc>
              </a:pPr>
              <a:r>
                <a:rPr lang="en-US" sz="9200" dirty="0">
                  <a:solidFill>
                    <a:srgbClr val="1E3256"/>
                  </a:solidFill>
                  <a:latin typeface="Aileron Bold"/>
                </a:rPr>
                <a:t>Financial Consumer Project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021716" y="1982354"/>
            <a:ext cx="7835079" cy="6638478"/>
            <a:chOff x="0" y="0"/>
            <a:chExt cx="7484110" cy="63411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ED794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29766" y="9515475"/>
            <a:ext cx="3086100" cy="1543050"/>
            <a:chOff x="0" y="0"/>
            <a:chExt cx="812800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D794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985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0600" y="5780253"/>
            <a:ext cx="6982426" cy="920137"/>
            <a:chOff x="-835596" y="-982969"/>
            <a:chExt cx="4473494" cy="384425"/>
          </a:xfrm>
        </p:grpSpPr>
        <p:sp>
          <p:nvSpPr>
            <p:cNvPr id="23" name="TextBox 23"/>
            <p:cNvSpPr txBox="1"/>
            <p:nvPr/>
          </p:nvSpPr>
          <p:spPr>
            <a:xfrm>
              <a:off x="-835596" y="-982969"/>
              <a:ext cx="4473494" cy="171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endParaRPr lang="en-US" sz="2499" spc="74" dirty="0">
                <a:solidFill>
                  <a:srgbClr val="1E3256"/>
                </a:solidFill>
                <a:latin typeface="Aileron Bold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-835596" y="-738248"/>
              <a:ext cx="4473494" cy="139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endParaRPr lang="en-US" sz="2000" spc="40" dirty="0">
                <a:solidFill>
                  <a:srgbClr val="1E3256"/>
                </a:solidFill>
                <a:latin typeface="IBM Plex Sans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E0F4B39D-9D72-7A33-B072-4E25D9964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185" y="2047647"/>
            <a:ext cx="7491640" cy="749164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5EE6E9F-353A-7662-1680-62E835A93CFE}"/>
              </a:ext>
            </a:extLst>
          </p:cNvPr>
          <p:cNvSpPr/>
          <p:nvPr/>
        </p:nvSpPr>
        <p:spPr>
          <a:xfrm>
            <a:off x="0" y="1"/>
            <a:ext cx="18288000" cy="482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5B6703-2EE3-9BE7-95AB-1806E751137B}"/>
              </a:ext>
            </a:extLst>
          </p:cNvPr>
          <p:cNvSpPr txBox="1"/>
          <p:nvPr/>
        </p:nvSpPr>
        <p:spPr>
          <a:xfrm>
            <a:off x="914400" y="5604873"/>
            <a:ext cx="10951368" cy="51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800" spc="74" dirty="0">
                <a:solidFill>
                  <a:srgbClr val="1E3256"/>
                </a:solidFill>
                <a:latin typeface="Aileron Bold"/>
              </a:rPr>
              <a:t>Tools of Analysis: python &amp;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20963" y="749425"/>
            <a:ext cx="9909155" cy="8395793"/>
            <a:chOff x="0" y="0"/>
            <a:chExt cx="7484110" cy="63411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1E325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4330118" y="9160305"/>
            <a:ext cx="3957882" cy="2253391"/>
            <a:chOff x="0" y="0"/>
            <a:chExt cx="812800" cy="4627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462762"/>
            </a:xfrm>
            <a:custGeom>
              <a:avLst/>
              <a:gdLst/>
              <a:ahLst/>
              <a:cxnLst/>
              <a:rect l="l" t="t" r="r" b="b"/>
              <a:pathLst>
                <a:path w="812800" h="462762">
                  <a:moveTo>
                    <a:pt x="609600" y="0"/>
                  </a:moveTo>
                  <a:lnTo>
                    <a:pt x="0" y="0"/>
                  </a:lnTo>
                  <a:lnTo>
                    <a:pt x="0" y="462762"/>
                  </a:lnTo>
                  <a:lnTo>
                    <a:pt x="609600" y="462762"/>
                  </a:lnTo>
                  <a:lnTo>
                    <a:pt x="812800" y="231381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E325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98500" cy="500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94021" y="2274454"/>
            <a:ext cx="5843958" cy="6751798"/>
            <a:chOff x="0" y="0"/>
            <a:chExt cx="7791944" cy="900239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0"/>
              <a:ext cx="7791944" cy="342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199"/>
                </a:lnSpc>
              </a:pPr>
              <a:r>
                <a:rPr lang="en-US" sz="8499">
                  <a:solidFill>
                    <a:srgbClr val="1E3256"/>
                  </a:solidFill>
                  <a:latin typeface="Aileron Bold"/>
                </a:rPr>
                <a:t>Executive Summary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5046868"/>
              <a:ext cx="7791944" cy="3955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21" lvl="1" indent="-302261">
                <a:lnSpc>
                  <a:spcPts val="3920"/>
                </a:lnSpc>
                <a:buFont typeface="Arial"/>
                <a:buChar char="•"/>
              </a:pPr>
              <a:r>
                <a:rPr lang="en-US" sz="2800" b="0" i="0" dirty="0">
                  <a:solidFill>
                    <a:srgbClr val="202124"/>
                  </a:solidFill>
                  <a:effectLst/>
                  <a:latin typeface="Roboto" panose="02000000000000000000" pitchFamily="2" charset="0"/>
                </a:rPr>
                <a:t>This comprehensive dashboard provides a multi-faceted view of financial consumer complaints, highlighting significant trends and distributions across various dimensions using POWER BI.</a:t>
              </a:r>
              <a:endParaRPr lang="en-US" sz="2800" dirty="0">
                <a:solidFill>
                  <a:srgbClr val="1E3256"/>
                </a:solidFill>
                <a:latin typeface="IBM Plex Sans"/>
              </a:endParaRP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0" y="4141095"/>
              <a:ext cx="2242254" cy="0"/>
            </a:xfrm>
            <a:prstGeom prst="line">
              <a:avLst/>
            </a:prstGeom>
            <a:ln w="38100" cap="flat">
              <a:solidFill>
                <a:srgbClr val="ED794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AE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6C193CB1-06C2-B89C-FB48-FF66F9B98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51307"/>
            <a:ext cx="7013168" cy="70131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3609204" y="5893245"/>
            <a:ext cx="7300192" cy="6185281"/>
            <a:chOff x="0" y="0"/>
            <a:chExt cx="7484110" cy="63411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1E325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14162832" y="-2623564"/>
            <a:ext cx="6192935" cy="5247128"/>
            <a:chOff x="0" y="0"/>
            <a:chExt cx="7484110" cy="63411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ED794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160305"/>
            <a:ext cx="3957882" cy="2253391"/>
            <a:chOff x="0" y="0"/>
            <a:chExt cx="812800" cy="4627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62762"/>
            </a:xfrm>
            <a:custGeom>
              <a:avLst/>
              <a:gdLst/>
              <a:ahLst/>
              <a:cxnLst/>
              <a:rect l="l" t="t" r="r" b="b"/>
              <a:pathLst>
                <a:path w="812800" h="462762">
                  <a:moveTo>
                    <a:pt x="609600" y="0"/>
                  </a:moveTo>
                  <a:lnTo>
                    <a:pt x="0" y="0"/>
                  </a:lnTo>
                  <a:lnTo>
                    <a:pt x="0" y="462762"/>
                  </a:lnTo>
                  <a:lnTo>
                    <a:pt x="609600" y="462762"/>
                  </a:lnTo>
                  <a:lnTo>
                    <a:pt x="812800" y="231381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D794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98500" cy="500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AE8BAEB-482A-FDD1-3BDC-5759B4B9B384}"/>
              </a:ext>
            </a:extLst>
          </p:cNvPr>
          <p:cNvSpPr/>
          <p:nvPr/>
        </p:nvSpPr>
        <p:spPr>
          <a:xfrm>
            <a:off x="4800600" y="0"/>
            <a:ext cx="8808604" cy="90703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Dashboard Overview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3C20FA-22F3-5EFF-E692-112A98861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028700"/>
            <a:ext cx="17297400" cy="883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12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3609204" y="5893245"/>
            <a:ext cx="7300192" cy="6185281"/>
            <a:chOff x="0" y="0"/>
            <a:chExt cx="7484110" cy="63411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1E325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14162832" y="-2623564"/>
            <a:ext cx="6192935" cy="5247128"/>
            <a:chOff x="0" y="0"/>
            <a:chExt cx="7484110" cy="63411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ED794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160305"/>
            <a:ext cx="3957882" cy="2253391"/>
            <a:chOff x="0" y="0"/>
            <a:chExt cx="812800" cy="4627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62762"/>
            </a:xfrm>
            <a:custGeom>
              <a:avLst/>
              <a:gdLst/>
              <a:ahLst/>
              <a:cxnLst/>
              <a:rect l="l" t="t" r="r" b="b"/>
              <a:pathLst>
                <a:path w="812800" h="462762">
                  <a:moveTo>
                    <a:pt x="609600" y="0"/>
                  </a:moveTo>
                  <a:lnTo>
                    <a:pt x="0" y="0"/>
                  </a:lnTo>
                  <a:lnTo>
                    <a:pt x="0" y="462762"/>
                  </a:lnTo>
                  <a:lnTo>
                    <a:pt x="609600" y="462762"/>
                  </a:lnTo>
                  <a:lnTo>
                    <a:pt x="812800" y="231381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D794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98500" cy="500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124C249-8498-A195-F912-1924D0170B87}"/>
              </a:ext>
            </a:extLst>
          </p:cNvPr>
          <p:cNvSpPr/>
          <p:nvPr/>
        </p:nvSpPr>
        <p:spPr>
          <a:xfrm>
            <a:off x="4800600" y="0"/>
            <a:ext cx="8808604" cy="90703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Data interpretation and insights</a:t>
            </a: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9B2646D4-0709-9410-76D3-7E0C9A9F4C01}"/>
              </a:ext>
            </a:extLst>
          </p:cNvPr>
          <p:cNvSpPr txBox="1"/>
          <p:nvPr/>
        </p:nvSpPr>
        <p:spPr>
          <a:xfrm>
            <a:off x="685800" y="1068745"/>
            <a:ext cx="10806355" cy="1075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99"/>
              </a:lnSpc>
            </a:pPr>
            <a:r>
              <a:rPr lang="en-US" sz="3200" b="1" dirty="0">
                <a:solidFill>
                  <a:srgbClr val="1E3256"/>
                </a:solidFill>
                <a:latin typeface="Aileron Bold"/>
              </a:rPr>
              <a:t>Analysis of Company Presence in US States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7D0AF92A-2588-A8DC-9167-368F3323E5EE}"/>
              </a:ext>
            </a:extLst>
          </p:cNvPr>
          <p:cNvSpPr txBox="1"/>
          <p:nvPr/>
        </p:nvSpPr>
        <p:spPr>
          <a:xfrm>
            <a:off x="495323" y="2349594"/>
            <a:ext cx="6856076" cy="7445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1E3256"/>
                </a:solidFill>
                <a:latin typeface="IBM Plex Sans"/>
              </a:rPr>
              <a:t>What regions show the highest company presence? </a:t>
            </a:r>
            <a:r>
              <a:rPr lang="en-US" sz="2100" dirty="0">
                <a:solidFill>
                  <a:srgbClr val="1E3256"/>
                </a:solidFill>
                <a:latin typeface="IBM Plex Sans"/>
              </a:rPr>
              <a:t>The East Coast of the United States, particularly states like New York and Florida, demonstrate a higher concentration of company presence.</a:t>
            </a:r>
          </a:p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1E3256"/>
                </a:solidFill>
                <a:latin typeface="IBM Plex Sans"/>
              </a:rPr>
              <a:t>What implications does this distribution have?  </a:t>
            </a:r>
            <a:r>
              <a:rPr lang="en-US" sz="2100" dirty="0">
                <a:solidFill>
                  <a:srgbClr val="1E3256"/>
                </a:solidFill>
                <a:latin typeface="IBM Plex Sans"/>
              </a:rPr>
              <a:t>These clusters may reflect strategic locations for finance-related businesses, suggesting a potential need for localized consumer financial services and regulatory attention.</a:t>
            </a:r>
          </a:p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1E3256"/>
                </a:solidFill>
                <a:latin typeface="IBM Plex Sans"/>
              </a:rPr>
              <a:t>How should companies use this information? </a:t>
            </a:r>
            <a:r>
              <a:rPr lang="en-US" sz="2100" dirty="0">
                <a:solidFill>
                  <a:srgbClr val="1E3256"/>
                </a:solidFill>
                <a:latin typeface="IBM Plex Sans"/>
              </a:rPr>
              <a:t>Businesses can utilize this data for market penetration strategies and to ensure adequate resource allocation in areas with significant presence to manage consumer relations effectively.</a:t>
            </a:r>
          </a:p>
        </p:txBody>
      </p:sp>
      <p:pic>
        <p:nvPicPr>
          <p:cNvPr id="14" name="Picture 1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3212CECC-4BA6-1423-F291-3704A8FFB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380" y="2313494"/>
            <a:ext cx="9573961" cy="633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9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3609204" y="5893245"/>
            <a:ext cx="7300192" cy="6185281"/>
            <a:chOff x="0" y="0"/>
            <a:chExt cx="7484110" cy="63411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1E325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14162832" y="-2623564"/>
            <a:ext cx="6192935" cy="5247128"/>
            <a:chOff x="0" y="0"/>
            <a:chExt cx="7484110" cy="63411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ED794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160305"/>
            <a:ext cx="3957882" cy="2253391"/>
            <a:chOff x="0" y="0"/>
            <a:chExt cx="812800" cy="4627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62762"/>
            </a:xfrm>
            <a:custGeom>
              <a:avLst/>
              <a:gdLst/>
              <a:ahLst/>
              <a:cxnLst/>
              <a:rect l="l" t="t" r="r" b="b"/>
              <a:pathLst>
                <a:path w="812800" h="462762">
                  <a:moveTo>
                    <a:pt x="609600" y="0"/>
                  </a:moveTo>
                  <a:lnTo>
                    <a:pt x="0" y="0"/>
                  </a:lnTo>
                  <a:lnTo>
                    <a:pt x="0" y="462762"/>
                  </a:lnTo>
                  <a:lnTo>
                    <a:pt x="609600" y="462762"/>
                  </a:lnTo>
                  <a:lnTo>
                    <a:pt x="812800" y="231381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D794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98500" cy="500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4F09554-BDE5-091E-9459-710FB2B534BE}"/>
              </a:ext>
            </a:extLst>
          </p:cNvPr>
          <p:cNvSpPr/>
          <p:nvPr/>
        </p:nvSpPr>
        <p:spPr>
          <a:xfrm>
            <a:off x="4800600" y="0"/>
            <a:ext cx="8808604" cy="90703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Data interpretation and insights</a:t>
            </a: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17D75B38-BCEE-FC67-6AE0-535FBB9B6737}"/>
              </a:ext>
            </a:extLst>
          </p:cNvPr>
          <p:cNvSpPr txBox="1"/>
          <p:nvPr/>
        </p:nvSpPr>
        <p:spPr>
          <a:xfrm>
            <a:off x="457200" y="1843086"/>
            <a:ext cx="10806355" cy="1075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99"/>
              </a:lnSpc>
            </a:pPr>
            <a:r>
              <a:rPr lang="en-US" sz="3200" b="1" dirty="0">
                <a:solidFill>
                  <a:srgbClr val="1E3256"/>
                </a:solidFill>
                <a:latin typeface="Aileron Bold"/>
              </a:rPr>
              <a:t>State-Specific Product Complaint Analysis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52A5BF09-FCC1-508E-854F-24C2E43A8F9D}"/>
              </a:ext>
            </a:extLst>
          </p:cNvPr>
          <p:cNvSpPr txBox="1"/>
          <p:nvPr/>
        </p:nvSpPr>
        <p:spPr>
          <a:xfrm>
            <a:off x="339137" y="3073960"/>
            <a:ext cx="6856076" cy="5954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E3256"/>
                </a:solidFill>
                <a:latin typeface="IBM Plex Sans"/>
              </a:rPr>
              <a:t> What is the trend throughout the year?   </a:t>
            </a:r>
            <a:r>
              <a:rPr lang="en-US" sz="2400" dirty="0">
                <a:solidFill>
                  <a:srgbClr val="1E3256"/>
                </a:solidFill>
                <a:latin typeface="IBM Plex Sans"/>
              </a:rPr>
              <a:t>Fluctuations are present with a peak around mid-year, followed by a sharp decline towards the year's end.  </a:t>
            </a:r>
          </a:p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3256"/>
                </a:solidFill>
                <a:latin typeface="IBM Plex Sans"/>
              </a:rPr>
              <a:t> </a:t>
            </a:r>
            <a:r>
              <a:rPr lang="en-US" sz="2400" b="1" dirty="0">
                <a:solidFill>
                  <a:srgbClr val="1E3256"/>
                </a:solidFill>
                <a:latin typeface="IBM Plex Sans"/>
              </a:rPr>
              <a:t>What could this pattern indicate?   </a:t>
            </a:r>
            <a:r>
              <a:rPr lang="en-US" sz="2400" dirty="0">
                <a:solidFill>
                  <a:srgbClr val="1E3256"/>
                </a:solidFill>
                <a:latin typeface="IBM Plex Sans"/>
              </a:rPr>
              <a:t>Potential seasonal impacts on complaint volumes or the effectiveness of mid-year initiatives.  </a:t>
            </a:r>
          </a:p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E3256"/>
                </a:solidFill>
                <a:latin typeface="IBM Plex Sans"/>
              </a:rPr>
              <a:t>What measures should be considered?  </a:t>
            </a:r>
            <a:r>
              <a:rPr lang="en-US" sz="2400" dirty="0">
                <a:solidFill>
                  <a:srgbClr val="1E3256"/>
                </a:solidFill>
                <a:latin typeface="IBM Plex Sans"/>
              </a:rPr>
              <a:t> Analyze the reasons for the mid-year peak and late-year drop to inform continuous improvement efforts and prepare for potential seasonal trends.</a:t>
            </a:r>
          </a:p>
        </p:txBody>
      </p:sp>
      <p:pic>
        <p:nvPicPr>
          <p:cNvPr id="14" name="Picture 13" descr="A graph of a graph&#10;&#10;AI-generated content may be incorrect.">
            <a:extLst>
              <a:ext uri="{FF2B5EF4-FFF2-40B4-BE49-F238E27FC236}">
                <a16:creationId xmlns:a16="http://schemas.microsoft.com/office/drawing/2014/main" id="{8545E6DC-246C-9C9E-BF06-5B128324F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940" y="2019300"/>
            <a:ext cx="86106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436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3609204" y="5893245"/>
            <a:ext cx="7300192" cy="6185281"/>
            <a:chOff x="0" y="0"/>
            <a:chExt cx="7484110" cy="63411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1E325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14162832" y="-2623564"/>
            <a:ext cx="6192935" cy="5247128"/>
            <a:chOff x="0" y="0"/>
            <a:chExt cx="7484110" cy="63411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ED794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160305"/>
            <a:ext cx="3957882" cy="2253391"/>
            <a:chOff x="0" y="0"/>
            <a:chExt cx="812800" cy="4627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62762"/>
            </a:xfrm>
            <a:custGeom>
              <a:avLst/>
              <a:gdLst/>
              <a:ahLst/>
              <a:cxnLst/>
              <a:rect l="l" t="t" r="r" b="b"/>
              <a:pathLst>
                <a:path w="812800" h="462762">
                  <a:moveTo>
                    <a:pt x="609600" y="0"/>
                  </a:moveTo>
                  <a:lnTo>
                    <a:pt x="0" y="0"/>
                  </a:lnTo>
                  <a:lnTo>
                    <a:pt x="0" y="462762"/>
                  </a:lnTo>
                  <a:lnTo>
                    <a:pt x="609600" y="462762"/>
                  </a:lnTo>
                  <a:lnTo>
                    <a:pt x="812800" y="231381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D794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98500" cy="500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82FEA7D-EFCD-8766-D533-085D95D67CDF}"/>
              </a:ext>
            </a:extLst>
          </p:cNvPr>
          <p:cNvSpPr/>
          <p:nvPr/>
        </p:nvSpPr>
        <p:spPr>
          <a:xfrm>
            <a:off x="4800600" y="0"/>
            <a:ext cx="8808604" cy="90703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Data interpretation and insights</a:t>
            </a: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2DB4AF1D-9B88-6309-2B6F-EE0E14B20082}"/>
              </a:ext>
            </a:extLst>
          </p:cNvPr>
          <p:cNvSpPr txBox="1"/>
          <p:nvPr/>
        </p:nvSpPr>
        <p:spPr>
          <a:xfrm>
            <a:off x="367712" y="1473758"/>
            <a:ext cx="10806355" cy="1075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99"/>
              </a:lnSpc>
            </a:pPr>
            <a:r>
              <a:rPr lang="en-US" sz="3200" b="1" dirty="0">
                <a:solidFill>
                  <a:srgbClr val="1E3256"/>
                </a:solidFill>
                <a:latin typeface="Aileron Bold"/>
              </a:rPr>
              <a:t>State-Specific Product Complaint Analysis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AB1E6B62-1596-169E-E1D9-323E7131C2AB}"/>
              </a:ext>
            </a:extLst>
          </p:cNvPr>
          <p:cNvSpPr txBox="1"/>
          <p:nvPr/>
        </p:nvSpPr>
        <p:spPr>
          <a:xfrm>
            <a:off x="367712" y="2809281"/>
            <a:ext cx="6856076" cy="5954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E3256"/>
                </a:solidFill>
                <a:latin typeface="IBM Plex Sans"/>
              </a:rPr>
              <a:t> What is the trend throughout the year?   </a:t>
            </a:r>
            <a:r>
              <a:rPr lang="en-US" sz="2400" dirty="0">
                <a:solidFill>
                  <a:srgbClr val="1E3256"/>
                </a:solidFill>
                <a:latin typeface="IBM Plex Sans"/>
              </a:rPr>
              <a:t>Fluctuations are present with a peak around mid-year, followed by a sharp decline towards the year's end.  </a:t>
            </a:r>
          </a:p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3256"/>
                </a:solidFill>
                <a:latin typeface="IBM Plex Sans"/>
              </a:rPr>
              <a:t> </a:t>
            </a:r>
            <a:r>
              <a:rPr lang="en-US" sz="2400" b="1" dirty="0">
                <a:solidFill>
                  <a:srgbClr val="1E3256"/>
                </a:solidFill>
                <a:latin typeface="IBM Plex Sans"/>
              </a:rPr>
              <a:t>What could this pattern indicate?   </a:t>
            </a:r>
            <a:r>
              <a:rPr lang="en-US" sz="2400" dirty="0">
                <a:solidFill>
                  <a:srgbClr val="1E3256"/>
                </a:solidFill>
                <a:latin typeface="IBM Plex Sans"/>
              </a:rPr>
              <a:t>Potential seasonal impacts on complaint volumes or the effectiveness of mid-year initiatives.  </a:t>
            </a:r>
          </a:p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E3256"/>
                </a:solidFill>
                <a:latin typeface="IBM Plex Sans"/>
              </a:rPr>
              <a:t>What measures should be considered?  </a:t>
            </a:r>
            <a:r>
              <a:rPr lang="en-US" sz="2400" dirty="0">
                <a:solidFill>
                  <a:srgbClr val="1E3256"/>
                </a:solidFill>
                <a:latin typeface="IBM Plex Sans"/>
              </a:rPr>
              <a:t> Analyze the reasons for the mid-year peak and late-year drop to inform continuous improvement efforts and prepare for potential seasonal trends.</a:t>
            </a:r>
          </a:p>
        </p:txBody>
      </p:sp>
      <p:pic>
        <p:nvPicPr>
          <p:cNvPr id="14" name="Picture 13" descr="A graph with numbers and a circle&#10;&#10;AI-generated content may be incorrect.">
            <a:extLst>
              <a:ext uri="{FF2B5EF4-FFF2-40B4-BE49-F238E27FC236}">
                <a16:creationId xmlns:a16="http://schemas.microsoft.com/office/drawing/2014/main" id="{AA695369-9075-A381-A5F6-AD7DD7C06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2598490"/>
            <a:ext cx="10927080" cy="605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91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3609204" y="5893245"/>
            <a:ext cx="7300192" cy="6185281"/>
            <a:chOff x="0" y="0"/>
            <a:chExt cx="7484110" cy="63411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1E325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14162832" y="-2623564"/>
            <a:ext cx="6192935" cy="5247128"/>
            <a:chOff x="0" y="0"/>
            <a:chExt cx="7484110" cy="63411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ED794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160305"/>
            <a:ext cx="3957882" cy="2253391"/>
            <a:chOff x="0" y="0"/>
            <a:chExt cx="812800" cy="4627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62762"/>
            </a:xfrm>
            <a:custGeom>
              <a:avLst/>
              <a:gdLst/>
              <a:ahLst/>
              <a:cxnLst/>
              <a:rect l="l" t="t" r="r" b="b"/>
              <a:pathLst>
                <a:path w="812800" h="462762">
                  <a:moveTo>
                    <a:pt x="609600" y="0"/>
                  </a:moveTo>
                  <a:lnTo>
                    <a:pt x="0" y="0"/>
                  </a:lnTo>
                  <a:lnTo>
                    <a:pt x="0" y="462762"/>
                  </a:lnTo>
                  <a:lnTo>
                    <a:pt x="609600" y="462762"/>
                  </a:lnTo>
                  <a:lnTo>
                    <a:pt x="812800" y="231381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D794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98500" cy="500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866900"/>
            <a:ext cx="10820401" cy="5828609"/>
            <a:chOff x="6349" y="699155"/>
            <a:chExt cx="14674106" cy="7771475"/>
          </a:xfrm>
        </p:grpSpPr>
        <p:sp>
          <p:nvSpPr>
            <p:cNvPr id="18" name="TextBox 18"/>
            <p:cNvSpPr txBox="1"/>
            <p:nvPr/>
          </p:nvSpPr>
          <p:spPr>
            <a:xfrm>
              <a:off x="25398" y="699155"/>
              <a:ext cx="14655057" cy="14338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0199"/>
                </a:lnSpc>
              </a:pPr>
              <a:r>
                <a:rPr lang="en-US" sz="3200" b="1" dirty="0">
                  <a:solidFill>
                    <a:srgbClr val="1E3256"/>
                  </a:solidFill>
                  <a:latin typeface="Aileron Bold"/>
                </a:rPr>
                <a:t>What Insights Can We Gain on Product-Related Issues?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49" y="2514130"/>
              <a:ext cx="9208056" cy="59565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>
                <a:lnSpc>
                  <a:spcPts val="3920"/>
                </a:lnSpc>
                <a:buFont typeface="Arial" panose="020B0604020202020204" pitchFamily="34" charset="0"/>
                <a:buChar char="•"/>
              </a:pPr>
              <a:r>
                <a:rPr lang="en-US" sz="2800" b="1" dirty="0">
                  <a:solidFill>
                    <a:srgbClr val="1E3256"/>
                  </a:solidFill>
                  <a:latin typeface="IBM Plex Sans"/>
                </a:rPr>
                <a:t>What is the trend?  </a:t>
              </a:r>
              <a:r>
                <a:rPr lang="en-US" sz="2800" dirty="0">
                  <a:solidFill>
                    <a:srgbClr val="1E3256"/>
                  </a:solidFill>
                  <a:latin typeface="IBM Plex Sans"/>
                </a:rPr>
                <a:t>A steady decrease in issue counts across products.  </a:t>
              </a:r>
            </a:p>
            <a:p>
              <a:pPr marL="457200" indent="-457200">
                <a:lnSpc>
                  <a:spcPts val="3920"/>
                </a:lnSpc>
                <a:buFont typeface="Arial" panose="020B0604020202020204" pitchFamily="34" charset="0"/>
                <a:buChar char="•"/>
              </a:pPr>
              <a:r>
                <a:rPr lang="en-US" sz="2800" b="1" dirty="0">
                  <a:solidFill>
                    <a:srgbClr val="1E3256"/>
                  </a:solidFill>
                  <a:latin typeface="IBM Plex Sans"/>
                </a:rPr>
                <a:t>What does this suggest?   </a:t>
              </a:r>
              <a:r>
                <a:rPr lang="en-US" sz="2800" dirty="0">
                  <a:solidFill>
                    <a:srgbClr val="1E3256"/>
                  </a:solidFill>
                  <a:latin typeface="IBM Plex Sans"/>
                </a:rPr>
                <a:t>Possible improvements in product quality or customer service.  </a:t>
              </a:r>
            </a:p>
            <a:p>
              <a:pPr marL="457200" indent="-457200">
                <a:lnSpc>
                  <a:spcPts val="3920"/>
                </a:lnSpc>
                <a:buFont typeface="Arial" panose="020B0604020202020204" pitchFamily="34" charset="0"/>
                <a:buChar char="•"/>
              </a:pPr>
              <a:r>
                <a:rPr lang="en-US" sz="2800" b="1" dirty="0">
                  <a:solidFill>
                    <a:srgbClr val="1E3256"/>
                  </a:solidFill>
                  <a:latin typeface="IBM Plex Sans"/>
                </a:rPr>
                <a:t>What actions are advised?   </a:t>
              </a:r>
              <a:r>
                <a:rPr lang="en-US" sz="2800" dirty="0">
                  <a:solidFill>
                    <a:srgbClr val="1E3256"/>
                  </a:solidFill>
                  <a:latin typeface="IBM Plex Sans"/>
                </a:rPr>
                <a:t>Continue enhancing product features and addressing customer needs to maintain this positive trend.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11D29681-5D83-0FF1-541E-122825ADE17A}"/>
              </a:ext>
            </a:extLst>
          </p:cNvPr>
          <p:cNvSpPr/>
          <p:nvPr/>
        </p:nvSpPr>
        <p:spPr>
          <a:xfrm>
            <a:off x="4800600" y="0"/>
            <a:ext cx="8808604" cy="90703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Data interpretation and insights</a:t>
            </a:r>
          </a:p>
        </p:txBody>
      </p:sp>
      <p:pic>
        <p:nvPicPr>
          <p:cNvPr id="3" name="Picture 2" descr="A graph showing a company by issue&#10;&#10;AI-generated content may be incorrect.">
            <a:extLst>
              <a:ext uri="{FF2B5EF4-FFF2-40B4-BE49-F238E27FC236}">
                <a16:creationId xmlns:a16="http://schemas.microsoft.com/office/drawing/2014/main" id="{9CD4E116-D41A-39B2-4FF7-D3138CFB3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3182030"/>
            <a:ext cx="9049764" cy="48150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3609204" y="5893245"/>
            <a:ext cx="7300192" cy="6185281"/>
            <a:chOff x="0" y="0"/>
            <a:chExt cx="7484110" cy="63411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1E325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14162832" y="-2623564"/>
            <a:ext cx="6192935" cy="5247128"/>
            <a:chOff x="0" y="0"/>
            <a:chExt cx="7484110" cy="63411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ED794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160305"/>
            <a:ext cx="3957882" cy="2253391"/>
            <a:chOff x="0" y="0"/>
            <a:chExt cx="812800" cy="4627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62762"/>
            </a:xfrm>
            <a:custGeom>
              <a:avLst/>
              <a:gdLst/>
              <a:ahLst/>
              <a:cxnLst/>
              <a:rect l="l" t="t" r="r" b="b"/>
              <a:pathLst>
                <a:path w="812800" h="462762">
                  <a:moveTo>
                    <a:pt x="609600" y="0"/>
                  </a:moveTo>
                  <a:lnTo>
                    <a:pt x="0" y="0"/>
                  </a:lnTo>
                  <a:lnTo>
                    <a:pt x="0" y="462762"/>
                  </a:lnTo>
                  <a:lnTo>
                    <a:pt x="609600" y="462762"/>
                  </a:lnTo>
                  <a:lnTo>
                    <a:pt x="812800" y="231381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D794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98500" cy="500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7BA9308-AF9D-0086-03C7-E43B3C54368A}"/>
              </a:ext>
            </a:extLst>
          </p:cNvPr>
          <p:cNvSpPr/>
          <p:nvPr/>
        </p:nvSpPr>
        <p:spPr>
          <a:xfrm>
            <a:off x="4800600" y="0"/>
            <a:ext cx="8808604" cy="90703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Data interpretation and insights</a:t>
            </a: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08CD4E2D-B98D-7F36-3973-F156485E60CD}"/>
              </a:ext>
            </a:extLst>
          </p:cNvPr>
          <p:cNvSpPr txBox="1"/>
          <p:nvPr/>
        </p:nvSpPr>
        <p:spPr>
          <a:xfrm>
            <a:off x="685800" y="1068745"/>
            <a:ext cx="10806355" cy="1075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99"/>
              </a:lnSpc>
            </a:pPr>
            <a:r>
              <a:rPr lang="en-US" sz="3200" b="1" dirty="0">
                <a:solidFill>
                  <a:srgbClr val="1E3256"/>
                </a:solidFill>
                <a:latin typeface="Aileron Bold"/>
              </a:rPr>
              <a:t>Complaint Volume by Financial Product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F31D0AF7-7FB1-9C53-E120-BF85C0AB95AB}"/>
              </a:ext>
            </a:extLst>
          </p:cNvPr>
          <p:cNvSpPr txBox="1"/>
          <p:nvPr/>
        </p:nvSpPr>
        <p:spPr>
          <a:xfrm>
            <a:off x="495323" y="2349594"/>
            <a:ext cx="6856076" cy="5448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1E3256"/>
                </a:solidFill>
                <a:latin typeface="IBM Plex Sans"/>
              </a:rPr>
              <a:t>Which financial products receive the most complaints? </a:t>
            </a:r>
            <a:r>
              <a:rPr lang="en-US" sz="2200" dirty="0">
                <a:solidFill>
                  <a:srgbClr val="1E3256"/>
                </a:solidFill>
                <a:latin typeface="IBM Plex Sans"/>
              </a:rPr>
              <a:t>Credit cards, followed by mortgages, represent the largest segments of complaints. </a:t>
            </a:r>
          </a:p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1E3256"/>
                </a:solidFill>
                <a:latin typeface="IBM Plex Sans"/>
              </a:rPr>
              <a:t> What can we infer from this data? </a:t>
            </a:r>
            <a:r>
              <a:rPr lang="en-US" sz="2200" dirty="0">
                <a:solidFill>
                  <a:srgbClr val="1E3256"/>
                </a:solidFill>
                <a:latin typeface="IBM Plex Sans"/>
              </a:rPr>
              <a:t>These are likely areas where consumers face the most challenges, indicating potential for product and service improvements.  </a:t>
            </a:r>
          </a:p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srgbClr val="1E3256"/>
                </a:solidFill>
                <a:latin typeface="IBM Plex Sans"/>
              </a:rPr>
              <a:t>Recommended Focus:  </a:t>
            </a:r>
            <a:r>
              <a:rPr lang="en-US" sz="2200" dirty="0">
                <a:solidFill>
                  <a:srgbClr val="1E3256"/>
                </a:solidFill>
                <a:latin typeface="IBM Plex Sans"/>
              </a:rPr>
              <a:t>Prioritize enhancements in credit card and mortgage services to address common consumer issues and improve overall satisfaction.</a:t>
            </a:r>
            <a:endParaRPr lang="en-US" sz="2100" dirty="0">
              <a:solidFill>
                <a:srgbClr val="1E3256"/>
              </a:solidFill>
              <a:latin typeface="IBM Plex Sans"/>
            </a:endParaRPr>
          </a:p>
        </p:txBody>
      </p:sp>
      <p:pic>
        <p:nvPicPr>
          <p:cNvPr id="14" name="Picture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2F87831-46B2-0EED-AB86-58DBCE51D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353" y="2144168"/>
            <a:ext cx="8946847" cy="574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2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3609204" y="5893245"/>
            <a:ext cx="7300192" cy="6185281"/>
            <a:chOff x="0" y="0"/>
            <a:chExt cx="7484110" cy="63411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1E325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14162832" y="-2623564"/>
            <a:ext cx="6192935" cy="5247128"/>
            <a:chOff x="0" y="0"/>
            <a:chExt cx="7484110" cy="63411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85380" cy="6341110"/>
            </a:xfrm>
            <a:custGeom>
              <a:avLst/>
              <a:gdLst/>
              <a:ahLst/>
              <a:cxnLst/>
              <a:rect l="l" t="t" r="r" b="b"/>
              <a:pathLst>
                <a:path w="7485380" h="6341110">
                  <a:moveTo>
                    <a:pt x="5027930" y="6341110"/>
                  </a:moveTo>
                  <a:lnTo>
                    <a:pt x="0" y="6341110"/>
                  </a:lnTo>
                  <a:lnTo>
                    <a:pt x="0" y="5027930"/>
                  </a:lnTo>
                  <a:cubicBezTo>
                    <a:pt x="0" y="2250440"/>
                    <a:pt x="2250440" y="0"/>
                    <a:pt x="5027930" y="0"/>
                  </a:cubicBezTo>
                  <a:lnTo>
                    <a:pt x="7485380" y="3169920"/>
                  </a:lnTo>
                  <a:lnTo>
                    <a:pt x="5027930" y="6341110"/>
                  </a:lnTo>
                  <a:close/>
                </a:path>
              </a:pathLst>
            </a:custGeom>
            <a:solidFill>
              <a:srgbClr val="ED794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160305"/>
            <a:ext cx="3957882" cy="2253391"/>
            <a:chOff x="0" y="0"/>
            <a:chExt cx="812800" cy="4627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62762"/>
            </a:xfrm>
            <a:custGeom>
              <a:avLst/>
              <a:gdLst/>
              <a:ahLst/>
              <a:cxnLst/>
              <a:rect l="l" t="t" r="r" b="b"/>
              <a:pathLst>
                <a:path w="812800" h="462762">
                  <a:moveTo>
                    <a:pt x="609600" y="0"/>
                  </a:moveTo>
                  <a:lnTo>
                    <a:pt x="0" y="0"/>
                  </a:lnTo>
                  <a:lnTo>
                    <a:pt x="0" y="462762"/>
                  </a:lnTo>
                  <a:lnTo>
                    <a:pt x="609600" y="462762"/>
                  </a:lnTo>
                  <a:lnTo>
                    <a:pt x="812800" y="231381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D794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98500" cy="500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1CF1732-B49A-1338-F820-03357FEF1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63130"/>
            <a:ext cx="11429680" cy="31043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AE8BAEB-482A-FDD1-3BDC-5759B4B9B384}"/>
              </a:ext>
            </a:extLst>
          </p:cNvPr>
          <p:cNvSpPr/>
          <p:nvPr/>
        </p:nvSpPr>
        <p:spPr>
          <a:xfrm>
            <a:off x="4800600" y="0"/>
            <a:ext cx="8808604" cy="90703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Data interpretation and insights</a:t>
            </a: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41DC9239-8D2F-DD43-FF7C-CF00B8B8A25D}"/>
              </a:ext>
            </a:extLst>
          </p:cNvPr>
          <p:cNvSpPr txBox="1"/>
          <p:nvPr/>
        </p:nvSpPr>
        <p:spPr>
          <a:xfrm>
            <a:off x="471246" y="1866900"/>
            <a:ext cx="10806355" cy="1075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99"/>
              </a:lnSpc>
            </a:pPr>
            <a:r>
              <a:rPr lang="en-US" sz="3200" b="1" dirty="0">
                <a:solidFill>
                  <a:srgbClr val="1E3256"/>
                </a:solidFill>
                <a:latin typeface="Aileron Bold"/>
              </a:rPr>
              <a:t>What Does the Complaint Trend Reveal?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2C92B4D3-AF6E-008D-114D-916551891723}"/>
              </a:ext>
            </a:extLst>
          </p:cNvPr>
          <p:cNvSpPr txBox="1"/>
          <p:nvPr/>
        </p:nvSpPr>
        <p:spPr>
          <a:xfrm>
            <a:off x="382924" y="3314700"/>
            <a:ext cx="6789842" cy="4467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E3256"/>
                </a:solidFill>
                <a:latin typeface="IBM Plex Sans"/>
              </a:rPr>
              <a:t>What is the trend? </a:t>
            </a:r>
            <a:r>
              <a:rPr lang="en-US" sz="2800" dirty="0">
                <a:solidFill>
                  <a:srgbClr val="1E3256"/>
                </a:solidFill>
                <a:latin typeface="IBM Plex Sans"/>
              </a:rPr>
              <a:t>A pronounced downward trend followed by stabilization.  </a:t>
            </a:r>
          </a:p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E3256"/>
                </a:solidFill>
                <a:latin typeface="IBM Plex Sans"/>
              </a:rPr>
              <a:t> </a:t>
            </a:r>
            <a:r>
              <a:rPr lang="en-US" sz="2800" b="1" dirty="0">
                <a:solidFill>
                  <a:srgbClr val="1E3256"/>
                </a:solidFill>
                <a:latin typeface="IBM Plex Sans"/>
              </a:rPr>
              <a:t>What does this imply? </a:t>
            </a:r>
            <a:r>
              <a:rPr lang="en-US" sz="2800" dirty="0">
                <a:solidFill>
                  <a:srgbClr val="1E3256"/>
                </a:solidFill>
                <a:latin typeface="IBM Plex Sans"/>
              </a:rPr>
              <a:t>Effective resolution of issues or improved services.</a:t>
            </a:r>
          </a:p>
          <a:p>
            <a:pPr marL="457200" indent="-457200">
              <a:lnSpc>
                <a:spcPts val="392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E3256"/>
                </a:solidFill>
                <a:latin typeface="IBM Plex Sans"/>
              </a:rPr>
              <a:t> </a:t>
            </a:r>
            <a:r>
              <a:rPr lang="en-US" sz="2800" b="1" dirty="0">
                <a:solidFill>
                  <a:srgbClr val="1E3256"/>
                </a:solidFill>
                <a:latin typeface="IBM Plex Sans"/>
              </a:rPr>
              <a:t>What should we do next?   </a:t>
            </a:r>
            <a:r>
              <a:rPr lang="en-US" sz="2800" dirty="0">
                <a:solidFill>
                  <a:srgbClr val="1E3256"/>
                </a:solidFill>
                <a:latin typeface="IBM Plex Sans"/>
              </a:rPr>
              <a:t>Continuously monitor for any increases in complaints to guide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2513340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287" y="-155258"/>
            <a:ext cx="18288000" cy="1028700"/>
            <a:chOff x="0" y="0"/>
            <a:chExt cx="4816593" cy="2709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E325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33387" y="1180140"/>
            <a:ext cx="8696325" cy="734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US" sz="2400" b="1" i="1" dirty="0">
                <a:solidFill>
                  <a:srgbClr val="1E3256"/>
                </a:solidFill>
                <a:latin typeface="Aileron" panose="020B0604020202020204" charset="0"/>
              </a:rPr>
              <a:t>Concluding Remarks: </a:t>
            </a:r>
          </a:p>
          <a:p>
            <a:pPr algn="just">
              <a:lnSpc>
                <a:spcPct val="250000"/>
              </a:lnSpc>
            </a:pPr>
            <a:r>
              <a:rPr lang="en-US" dirty="0">
                <a:solidFill>
                  <a:srgbClr val="1E3256"/>
                </a:solidFill>
                <a:latin typeface="Aileron" panose="020B0604020202020204" charset="0"/>
              </a:rPr>
              <a:t>Our comprehensive analysis of the Financial Consumer Complaints Dashboard reveals valuable insights into consumer behavior and company performance across various financial products and regions. Key takeaways include:</a:t>
            </a:r>
          </a:p>
          <a:p>
            <a:pPr marL="457200" indent="-457200" algn="just">
              <a:lnSpc>
                <a:spcPct val="25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1E3256"/>
                </a:solidFill>
                <a:latin typeface="Aileron" panose="020B0604020202020204" charset="0"/>
              </a:rPr>
              <a:t>Trend of Complaints</a:t>
            </a:r>
            <a:r>
              <a:rPr lang="en-US" dirty="0">
                <a:solidFill>
                  <a:srgbClr val="1E3256"/>
                </a:solidFill>
                <a:latin typeface="Aileron" panose="020B0604020202020204" charset="0"/>
              </a:rPr>
              <a:t>: We observe a general downward trend in the number of complaints over time, indicating potentially improved customer satisfaction and effective resolution strategies.</a:t>
            </a:r>
          </a:p>
          <a:p>
            <a:pPr marL="457200" indent="-457200" algn="just">
              <a:lnSpc>
                <a:spcPct val="25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1E3256"/>
                </a:solidFill>
                <a:latin typeface="Aileron" panose="020B0604020202020204" charset="0"/>
              </a:rPr>
              <a:t>Product-Specific Complaints</a:t>
            </a:r>
            <a:r>
              <a:rPr lang="en-US" sz="2200" dirty="0">
                <a:solidFill>
                  <a:srgbClr val="1E3256"/>
                </a:solidFill>
                <a:latin typeface="Aileron" panose="020B0604020202020204" charset="0"/>
              </a:rPr>
              <a:t>: </a:t>
            </a:r>
            <a:r>
              <a:rPr lang="en-US" dirty="0">
                <a:solidFill>
                  <a:srgbClr val="1E3256"/>
                </a:solidFill>
                <a:latin typeface="Aileron" panose="020B0604020202020204" charset="0"/>
              </a:rPr>
              <a:t>Mortgages and credit cards are the predominant sources of complaints, signaling a need for focused improvement in these areas.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EC1496-665C-62DC-FD41-0CD6557C0529}"/>
              </a:ext>
            </a:extLst>
          </p:cNvPr>
          <p:cNvSpPr txBox="1"/>
          <p:nvPr/>
        </p:nvSpPr>
        <p:spPr>
          <a:xfrm>
            <a:off x="3581400" y="60811"/>
            <a:ext cx="1059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Synthesizing Financial Consumer Complaint Data Conclusion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4FAB81-EC67-F144-89D3-857547D72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1018103"/>
            <a:ext cx="7667625" cy="76676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22174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287" y="-155258"/>
            <a:ext cx="18288000" cy="1028700"/>
            <a:chOff x="0" y="0"/>
            <a:chExt cx="4816593" cy="2709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E325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81000" y="1714500"/>
            <a:ext cx="10296525" cy="5727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just">
              <a:lnSpc>
                <a:spcPct val="250000"/>
              </a:lnSpc>
              <a:buFont typeface="+mj-lt"/>
              <a:buAutoNum type="arabicPeriod" startAt="3"/>
            </a:pPr>
            <a:r>
              <a:rPr lang="en-US" sz="2400" b="1" dirty="0">
                <a:solidFill>
                  <a:srgbClr val="1E3256"/>
                </a:solidFill>
                <a:latin typeface="Aileron" panose="020B0604020202020204" charset="0"/>
              </a:rPr>
              <a:t>State-Specific Trends</a:t>
            </a:r>
            <a:r>
              <a:rPr lang="en-US" sz="3200" dirty="0">
                <a:solidFill>
                  <a:srgbClr val="1E3256"/>
                </a:solidFill>
                <a:latin typeface="Aileron" panose="020B0604020202020204" charset="0"/>
              </a:rPr>
              <a:t>: </a:t>
            </a:r>
            <a:r>
              <a:rPr lang="en-US" dirty="0">
                <a:solidFill>
                  <a:srgbClr val="1E3256"/>
                </a:solidFill>
                <a:latin typeface="Aileron" panose="020B0604020202020204" charset="0"/>
              </a:rPr>
              <a:t>Certain states, like California and Florida, exhibit higher volumes of complaints, which may align with their larger populations and active financial sectors.</a:t>
            </a:r>
          </a:p>
          <a:p>
            <a:pPr marL="457200" indent="-457200" algn="just">
              <a:lnSpc>
                <a:spcPct val="250000"/>
              </a:lnSpc>
              <a:buFont typeface="+mj-lt"/>
              <a:buAutoNum type="arabicPeriod" startAt="3"/>
            </a:pPr>
            <a:r>
              <a:rPr lang="en-US" sz="2400" b="1" dirty="0">
                <a:solidFill>
                  <a:srgbClr val="1E3256"/>
                </a:solidFill>
                <a:latin typeface="Aileron" panose="020B0604020202020204" charset="0"/>
              </a:rPr>
              <a:t>Temporal Fluctuations</a:t>
            </a:r>
            <a:r>
              <a:rPr lang="en-US" sz="2400" dirty="0">
                <a:solidFill>
                  <a:srgbClr val="1E3256"/>
                </a:solidFill>
                <a:latin typeface="Aileron" panose="020B0604020202020204" charset="0"/>
              </a:rPr>
              <a:t>:</a:t>
            </a:r>
            <a:r>
              <a:rPr lang="en-US" dirty="0">
                <a:solidFill>
                  <a:srgbClr val="1E3256"/>
                </a:solidFill>
                <a:latin typeface="Aileron" panose="020B0604020202020204" charset="0"/>
              </a:rPr>
              <a:t> Complaints show seasonal patterns, with peaks and troughs indicating potential areas for targeted customer support during specific times of the year.</a:t>
            </a:r>
          </a:p>
          <a:p>
            <a:pPr marL="457200" indent="-457200" algn="just">
              <a:lnSpc>
                <a:spcPct val="250000"/>
              </a:lnSpc>
              <a:buFont typeface="+mj-lt"/>
              <a:buAutoNum type="arabicPeriod" startAt="3"/>
            </a:pPr>
            <a:r>
              <a:rPr lang="en-US" sz="2400" b="1" dirty="0">
                <a:solidFill>
                  <a:srgbClr val="1E3256"/>
                </a:solidFill>
                <a:latin typeface="Aileron" panose="020B0604020202020204" charset="0"/>
              </a:rPr>
              <a:t>Company Presence</a:t>
            </a:r>
            <a:r>
              <a:rPr lang="en-US" sz="2400" dirty="0">
                <a:solidFill>
                  <a:srgbClr val="1E3256"/>
                </a:solidFill>
                <a:latin typeface="Aileron" panose="020B0604020202020204" charset="0"/>
              </a:rPr>
              <a:t>: </a:t>
            </a:r>
          </a:p>
          <a:p>
            <a:pPr algn="just">
              <a:lnSpc>
                <a:spcPct val="250000"/>
              </a:lnSpc>
            </a:pPr>
            <a:r>
              <a:rPr lang="en-US" dirty="0">
                <a:solidFill>
                  <a:srgbClr val="1E3256"/>
                </a:solidFill>
                <a:latin typeface="Aileron" panose="020B0604020202020204" charset="0"/>
              </a:rPr>
              <a:t>A concentration of company presence in specific states correlates with the number of complaints, suggesting that operational scale may impact consumer experience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EC1496-665C-62DC-FD41-0CD6557C0529}"/>
              </a:ext>
            </a:extLst>
          </p:cNvPr>
          <p:cNvSpPr txBox="1"/>
          <p:nvPr/>
        </p:nvSpPr>
        <p:spPr>
          <a:xfrm>
            <a:off x="3581400" y="60811"/>
            <a:ext cx="1059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Synthesizing Financial Consumer Complaint Data Conclusion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038EA3-7759-416A-FEBD-D6384C7F4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062" y="1714500"/>
            <a:ext cx="6400800" cy="64008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69358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6673685" cy="10287000"/>
            <a:chOff x="0" y="0"/>
            <a:chExt cx="175767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7678" cy="2709333"/>
            </a:xfrm>
            <a:custGeom>
              <a:avLst/>
              <a:gdLst/>
              <a:ahLst/>
              <a:cxnLst/>
              <a:rect l="l" t="t" r="r" b="b"/>
              <a:pathLst>
                <a:path w="1757678" h="2709333">
                  <a:moveTo>
                    <a:pt x="0" y="0"/>
                  </a:moveTo>
                  <a:lnTo>
                    <a:pt x="1757678" y="0"/>
                  </a:lnTo>
                  <a:lnTo>
                    <a:pt x="175767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E325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5767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BCFEF81-70D4-52FA-B454-EDE199990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104900"/>
            <a:ext cx="11277600" cy="736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689</Words>
  <Application>Microsoft Office PowerPoint</Application>
  <PresentationFormat>Custom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IBM Plex Sans</vt:lpstr>
      <vt:lpstr>Arial</vt:lpstr>
      <vt:lpstr>Aileron</vt:lpstr>
      <vt:lpstr>Calibri</vt:lpstr>
      <vt:lpstr>Roboto</vt:lpstr>
      <vt:lpstr>Aileron Bold</vt:lpstr>
      <vt:lpstr>Aharoni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Report Business Presentation in Orange Blue Geometric Style</dc:title>
  <dc:creator>SAHER MOHAMED</dc:creator>
  <cp:lastModifiedBy>دينا محمد خلف محمد</cp:lastModifiedBy>
  <cp:revision>5</cp:revision>
  <dcterms:created xsi:type="dcterms:W3CDTF">2006-08-16T00:00:00Z</dcterms:created>
  <dcterms:modified xsi:type="dcterms:W3CDTF">2025-10-30T23:54:57Z</dcterms:modified>
  <dc:identifier>DAF3XwssJKk</dc:identifier>
</cp:coreProperties>
</file>